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2" r:id="rId5"/>
    <p:sldId id="261" r:id="rId6"/>
    <p:sldId id="256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DC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0DA7-0E33-22A8-B17B-5251DF9D6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6419C-D838-C4BB-C1D9-3638ABF24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C2487-819E-08CF-D688-0BFF1D4D9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F31-F840-47E8-BEBC-C25C6227E72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AF173-5B41-61B0-0556-B2670297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D3C69-2433-AD30-2FFF-754D42FE6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CE9-A559-4878-A788-5029988D6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6DE1-1EEB-BDAF-D8E4-8C8114EDB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1336C-F715-3C51-AFB9-64C1FE8D3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612FC-E706-F1F3-04D9-8D73A190F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F31-F840-47E8-BEBC-C25C6227E72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2CCE-D8C7-B2D5-8FA4-B0963019F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4D7C0-5E51-1B4F-DBD7-BFD2BC1C1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CE9-A559-4878-A788-5029988D6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73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8CAE-4755-680D-DC7A-730AE491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3359D-F233-8C56-1CD3-D38B99CC1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C81C6-FC26-5600-00A8-2963BC1B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F31-F840-47E8-BEBC-C25C6227E72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0C48F-DB27-2B8C-3112-69F4E3A3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3EA55-F43A-9AB4-BB5D-6A713421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CE9-A559-4878-A788-5029988D6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8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54E4-9D21-682B-F36D-6D939126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B69D9-6865-DBE7-ACD9-758DD7FC0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B2B73-94FE-54EF-F5B2-975906BE9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2697B-7AD3-03D6-81D5-A4A97E5F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F31-F840-47E8-BEBC-C25C6227E72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C3092-E200-6B7C-F063-70FB60C13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B11CE-B97B-DCA8-0859-475BA8B9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CE9-A559-4878-A788-5029988D6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73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ADB1-C3A8-0477-9F23-2FE1D49A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3B01B-B585-2653-67B7-B00C97BC6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EFBA1-55B0-83BF-9817-2CDF8AE4E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D710D0-EB41-D3C0-256F-C0A176432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3F3E94-F010-A1EF-A0F8-AD1A99E37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24BDE9-50DA-1C08-F73C-D0CD7EF4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F31-F840-47E8-BEBC-C25C6227E72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C9081-41AC-A156-09F4-247BCDB32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F70C8-E8FE-6C23-CE27-3A0D21AF0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CE9-A559-4878-A788-5029988D6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6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2FEC-FBFB-A1DE-6E55-884CDFCF0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D01897-D6CA-EC70-0EC8-92A1CB39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F31-F840-47E8-BEBC-C25C6227E72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3B8886-1B66-1B85-A39E-29F81D1F5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6FA9A-DF47-AB4D-9DD7-CF5F5917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CE9-A559-4878-A788-5029988D6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48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E9603-2723-F0DA-DAC8-95FAAC372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F31-F840-47E8-BEBC-C25C6227E72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1CD84-85F6-E0AE-4B8E-B7105DAE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1ED6A-567A-4367-9DAB-9267B84E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CE9-A559-4878-A788-5029988D6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7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DC700-53D1-E7AB-B5E8-36357760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B3FF3-CEC6-9555-F45C-713316B6A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C53D7-8C34-376C-F05D-8E93E4F55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1A5F3-4D32-AE57-941B-419EF126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F31-F840-47E8-BEBC-C25C6227E72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C1EFD-570B-E717-B1C8-54C24080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D3CB6-4830-D256-02BF-E2A0E334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CE9-A559-4878-A788-5029988D6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3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20EA1-139B-5AAF-C701-E59EE65F2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51244-2577-091F-3C27-8069DA784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46D28-74ED-DB06-1004-4321EF293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D05B8-263E-8774-FE64-2C0B7BD6A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F31-F840-47E8-BEBC-C25C6227E72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3F0EC-9245-3CC0-D58E-F7E48D5F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84DE-2625-2704-42F3-24129FD0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CE9-A559-4878-A788-5029988D6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8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84223-BCD3-628C-81D1-B73D6873A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575E8-AF85-4EC2-41B3-27727ED63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DFFCA-F789-BB7A-C1B4-7768C703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F31-F840-47E8-BEBC-C25C6227E72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163A6-4806-A3E2-DB7A-C93EEF2B0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07151-F205-CF9C-AD84-9C4066878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CE9-A559-4878-A788-5029988D6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99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C9D5B6-95C6-F98B-96E4-F6138A881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EF35C-5D59-69F7-C44D-9699B0C33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5E345-8619-533B-6D6D-32318220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0F31-F840-47E8-BEBC-C25C6227E72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E6A07-878B-11F5-91D0-FF5D83EF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E7AF6-8984-A7D5-BF4F-E9233882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0CE9-A559-4878-A788-5029988D6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35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49FFB-3BAB-2756-1242-5EA3EF44F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2BDEB-1118-1423-CF02-E02BD72C7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B477-C450-8E00-D15A-9BD733850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A0F31-F840-47E8-BEBC-C25C6227E72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F9857-1C76-5A5A-059D-EE5F0C8FC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9831F-F9C1-A9A8-560F-627B729AD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70CE9-A559-4878-A788-5029988D6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5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8613A-8921-2338-B91E-66CB5457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5CDF8A-6E66-DFDC-FA08-AE0322EAA29A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chemeClr val="accent2">
                  <a:lumMod val="75000"/>
                </a:schemeClr>
              </a:solidFill>
              <a:latin typeface="Footlight MT Light" panose="0204060206030A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035BB-44DF-48C7-F56C-8537C278773E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C9DC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57581-8638-9F3E-CF43-C8989F0809C7}"/>
              </a:ext>
            </a:extLst>
          </p:cNvPr>
          <p:cNvSpPr txBox="1"/>
          <p:nvPr/>
        </p:nvSpPr>
        <p:spPr>
          <a:xfrm>
            <a:off x="1353671" y="3039036"/>
            <a:ext cx="3388659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Linear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 Search</a:t>
            </a:r>
          </a:p>
          <a:p>
            <a:pPr algn="ctr"/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EBD992-B7EC-17A8-BF7C-E4D775DA54BA}"/>
              </a:ext>
            </a:extLst>
          </p:cNvPr>
          <p:cNvSpPr txBox="1"/>
          <p:nvPr/>
        </p:nvSpPr>
        <p:spPr>
          <a:xfrm>
            <a:off x="7593105" y="3039036"/>
            <a:ext cx="36755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Footlight MT Light" panose="0204060206030A020304" pitchFamily="18" charset="0"/>
              </a:rPr>
              <a:t>Binary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Footlight MT Light" panose="0204060206030A020304" pitchFamily="18" charset="0"/>
              </a:rPr>
              <a:t> Search</a:t>
            </a:r>
          </a:p>
          <a:p>
            <a:pPr algn="ctr"/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06716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6F2A9-F9E5-ACC1-7C2B-266C04D1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F3E5FC-76A3-FE6C-3383-05B3270F00E6}"/>
              </a:ext>
            </a:extLst>
          </p:cNvPr>
          <p:cNvSpPr>
            <a:spLocks/>
          </p:cNvSpPr>
          <p:nvPr/>
        </p:nvSpPr>
        <p:spPr>
          <a:xfrm>
            <a:off x="0" y="-3228"/>
            <a:ext cx="12192000" cy="6858000"/>
          </a:xfrm>
          <a:prstGeom prst="rect">
            <a:avLst/>
          </a:prstGeom>
          <a:solidFill>
            <a:srgbClr val="C9DCE9"/>
          </a:solidFill>
          <a:ln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r" rtl="1"/>
            <a:endParaRPr lang="ar-EG" sz="48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r" rtl="1"/>
            <a:endParaRPr lang="ar-EG" sz="48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r" rtl="1"/>
            <a:endParaRPr lang="ar-EG" sz="8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r" rtl="1"/>
            <a:endParaRPr lang="ar-EG" sz="8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r" rtl="1"/>
            <a:endParaRPr lang="ar-EG" sz="8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r" rtl="1"/>
            <a:endParaRPr lang="ar-EG" sz="8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r" rtl="1"/>
            <a:endParaRPr lang="ar-EG" sz="8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l"/>
            <a:endParaRPr lang="ar-EG" sz="2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l"/>
            <a:endParaRPr lang="ar-EG" sz="2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l"/>
            <a:endParaRPr lang="ar-EG" sz="2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l"/>
            <a:endParaRPr lang="ar-EG" sz="2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l"/>
            <a:endParaRPr lang="ar-EG" sz="2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l"/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int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linearSearch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(List&lt;int&gt; array, int target) {</a:t>
            </a:r>
          </a:p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  for (int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 = 0;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 &lt;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array.length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;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++) {</a:t>
            </a:r>
          </a:p>
          <a:p>
            <a:pPr rtl="1"/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    if (array[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] == target) {</a:t>
            </a:r>
            <a:endParaRPr lang="ar-EG" sz="2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rtl="1"/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      return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; </a:t>
            </a:r>
          </a:p>
          <a:p>
            <a:pPr rtl="1"/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}</a:t>
            </a:r>
          </a:p>
          <a:p>
            <a:pPr rtl="1"/>
            <a:r>
              <a:rPr lang="ar-EG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return -1;</a:t>
            </a:r>
          </a:p>
          <a:p>
            <a:pPr rtl="1"/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}</a:t>
            </a:r>
            <a:endParaRPr lang="en-US" sz="8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4EFFB5-CD7E-08C0-704B-B753035675DA}"/>
              </a:ext>
            </a:extLst>
          </p:cNvPr>
          <p:cNvSpPr txBox="1">
            <a:spLocks/>
          </p:cNvSpPr>
          <p:nvPr/>
        </p:nvSpPr>
        <p:spPr>
          <a:xfrm>
            <a:off x="2420472" y="3228"/>
            <a:ext cx="6777318" cy="1446550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 algn="ctr"/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Linear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 Search</a:t>
            </a:r>
          </a:p>
          <a:p>
            <a:pPr algn="ctr"/>
            <a:endParaRPr lang="en-US" sz="4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CDD303-71F2-F538-C89D-94D6A088A84B}"/>
              </a:ext>
            </a:extLst>
          </p:cNvPr>
          <p:cNvSpPr txBox="1">
            <a:spLocks/>
          </p:cNvSpPr>
          <p:nvPr/>
        </p:nvSpPr>
        <p:spPr>
          <a:xfrm>
            <a:off x="160171" y="309904"/>
            <a:ext cx="10850880" cy="2677656"/>
          </a:xfrm>
          <a:prstGeom prst="rect">
            <a:avLst/>
          </a:prstGeom>
          <a:noFill/>
          <a:scene3d>
            <a:camera prst="perspective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 algn="r"/>
            <a:endParaRPr lang="ar-EG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r"/>
            <a:r>
              <a:rPr lang="ar-SA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الفكرة</a:t>
            </a:r>
            <a:r>
              <a:rPr lang="ar-EG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</a:t>
            </a:r>
          </a:p>
          <a:p>
            <a:pPr algn="r"/>
            <a:endParaRPr lang="ar-SA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ar-SA" dirty="0">
                <a:solidFill>
                  <a:schemeClr val="tx2">
                    <a:lumMod val="75000"/>
                    <a:lumOff val="25000"/>
                  </a:schemeClr>
                </a:solidFill>
              </a:rPr>
              <a:t>بنمشي على العناصر </a:t>
            </a:r>
            <a:r>
              <a:rPr lang="ar-SA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واحد </a:t>
            </a:r>
            <a:r>
              <a:rPr lang="ar-SA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واحد</a:t>
            </a:r>
            <a:r>
              <a:rPr lang="ar-SA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لحد ما نلاقي العنصر المطلوب أو </a:t>
            </a:r>
            <a:r>
              <a:rPr lang="ar-SA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الليست</a:t>
            </a:r>
            <a:r>
              <a:rPr lang="ar-SA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تخلص.</a:t>
            </a:r>
            <a:endParaRPr lang="ar-EG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ar-EG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ar-EG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r"/>
            <a:r>
              <a:rPr lang="ar-SA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الأداء </a:t>
            </a:r>
            <a:r>
              <a:rPr lang="ar-EG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):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Time Complexity)</a:t>
            </a:r>
            <a:endParaRPr lang="ar-EG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r"/>
            <a:endParaRPr lang="ar-EG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r" rtl="1"/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FEB800C-EA37-0784-2108-1A442E3A9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288423"/>
              </p:ext>
            </p:extLst>
          </p:nvPr>
        </p:nvGraphicFramePr>
        <p:xfrm>
          <a:off x="160171" y="2111260"/>
          <a:ext cx="812799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6230195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297242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97842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SA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الحالة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التعقيد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التفسير</a:t>
                      </a:r>
                      <a:endParaRPr lang="en-US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882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Best Case</a:t>
                      </a:r>
                      <a:r>
                        <a:rPr lang="ar-EG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O(1)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العنصر موجود في أول مكان</a:t>
                      </a:r>
                      <a:endParaRPr lang="ar-EG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80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Average Case</a:t>
                      </a:r>
                      <a:r>
                        <a:rPr lang="ar-EG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O(n)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العنصر موجود في</a:t>
                      </a:r>
                      <a:r>
                        <a:rPr lang="ar-EG" sz="1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النص غالبا</a:t>
                      </a:r>
                      <a:r>
                        <a:rPr lang="en-US" sz="1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7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Worst Case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O(n)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العنصر في آخر الليس</a:t>
                      </a:r>
                      <a:r>
                        <a:rPr lang="ar-EG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ت                                          </a:t>
                      </a:r>
                      <a:r>
                        <a:rPr lang="ar-SA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أو مش موجود أصلاً</a:t>
                      </a:r>
                      <a:endParaRPr lang="en-US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151529"/>
                  </a:ext>
                </a:extLst>
              </a:tr>
            </a:tbl>
          </a:graphicData>
        </a:graphic>
      </p:graphicFrame>
      <p:pic>
        <p:nvPicPr>
          <p:cNvPr id="18" name="Graphic 17" descr="Man in business attire">
            <a:extLst>
              <a:ext uri="{FF2B5EF4-FFF2-40B4-BE49-F238E27FC236}">
                <a16:creationId xmlns:a16="http://schemas.microsoft.com/office/drawing/2014/main" id="{695C69C1-CE26-D730-E488-280E5B42C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9947" y="4763404"/>
            <a:ext cx="1304925" cy="1762125"/>
          </a:xfrm>
          <a:prstGeom prst="rect">
            <a:avLst/>
          </a:prstGeom>
        </p:spPr>
      </p:pic>
      <p:pic>
        <p:nvPicPr>
          <p:cNvPr id="23" name="Graphic 22" descr="Man in business attire">
            <a:extLst>
              <a:ext uri="{FF2B5EF4-FFF2-40B4-BE49-F238E27FC236}">
                <a16:creationId xmlns:a16="http://schemas.microsoft.com/office/drawing/2014/main" id="{0960A10B-7488-5256-1C29-4B306EC26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2747" y="4785971"/>
            <a:ext cx="1304925" cy="1762125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sp>
        <p:nvSpPr>
          <p:cNvPr id="24" name="Double Wave 23">
            <a:extLst>
              <a:ext uri="{FF2B5EF4-FFF2-40B4-BE49-F238E27FC236}">
                <a16:creationId xmlns:a16="http://schemas.microsoft.com/office/drawing/2014/main" id="{C373516F-8865-5EDB-DDAD-C503A6B971F3}"/>
              </a:ext>
            </a:extLst>
          </p:cNvPr>
          <p:cNvSpPr/>
          <p:nvPr/>
        </p:nvSpPr>
        <p:spPr>
          <a:xfrm>
            <a:off x="8859520" y="5191760"/>
            <a:ext cx="1483360" cy="1087120"/>
          </a:xfrm>
          <a:prstGeom prst="double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this</a:t>
            </a:r>
          </a:p>
        </p:txBody>
      </p:sp>
    </p:spTree>
    <p:extLst>
      <p:ext uri="{BB962C8B-B14F-4D97-AF65-F5344CB8AC3E}">
        <p14:creationId xmlns:p14="http://schemas.microsoft.com/office/powerpoint/2010/main" val="2050527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98CE0-2DCE-93F2-DF2A-2E77929CF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42CA5F-5850-9929-0A9E-6DB2E77D45E6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chemeClr val="accent2">
                  <a:lumMod val="75000"/>
                </a:schemeClr>
              </a:solidFill>
              <a:latin typeface="Footlight MT Light" panose="0204060206030A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710B58-F8ED-D580-0D09-FCA51661DAA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C9DC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E770A-37CC-E8D0-E03C-7C937A379AD1}"/>
              </a:ext>
            </a:extLst>
          </p:cNvPr>
          <p:cNvSpPr txBox="1"/>
          <p:nvPr/>
        </p:nvSpPr>
        <p:spPr>
          <a:xfrm>
            <a:off x="1353671" y="3039036"/>
            <a:ext cx="3388659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Linear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 Search</a:t>
            </a:r>
          </a:p>
          <a:p>
            <a:pPr algn="ctr"/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ADB76-6FC6-A898-EE66-3DD2AF73633E}"/>
              </a:ext>
            </a:extLst>
          </p:cNvPr>
          <p:cNvSpPr txBox="1"/>
          <p:nvPr/>
        </p:nvSpPr>
        <p:spPr>
          <a:xfrm>
            <a:off x="7593105" y="3039036"/>
            <a:ext cx="36755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Footlight MT Light" panose="0204060206030A020304" pitchFamily="18" charset="0"/>
              </a:rPr>
              <a:t>Binary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Footlight MT Light" panose="0204060206030A020304" pitchFamily="18" charset="0"/>
              </a:rPr>
              <a:t> Search</a:t>
            </a:r>
          </a:p>
          <a:p>
            <a:pPr algn="ctr"/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39618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1893-CE29-4491-A677-037D52EEE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BBB0F2-5EC3-DC1C-C135-F83BE15FA990}"/>
              </a:ext>
            </a:extLst>
          </p:cNvPr>
          <p:cNvSpPr>
            <a:spLocks/>
          </p:cNvSpPr>
          <p:nvPr/>
        </p:nvSpPr>
        <p:spPr>
          <a:xfrm>
            <a:off x="0" y="-3228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r" rtl="1"/>
            <a:endParaRPr lang="ar-EG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r" rtl="1"/>
            <a:endParaRPr lang="ar-EG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r" rtl="1"/>
            <a:endParaRPr lang="ar-EG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r" rtl="1"/>
            <a:endParaRPr lang="ar-EG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r" rtl="1"/>
            <a:endParaRPr lang="ar-EG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r" rtl="1"/>
            <a:endParaRPr lang="ar-EG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r" rtl="1"/>
            <a:endParaRPr lang="ar-EG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l"/>
            <a:endParaRPr lang="ar-EG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l"/>
            <a:endParaRPr lang="ar-EG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l"/>
            <a:endParaRPr lang="ar-EG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l"/>
            <a:endParaRPr lang="ar-EG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pPr algn="l"/>
            <a:endParaRPr lang="ar-EG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endParaRPr lang="en-US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endParaRPr lang="en-US" sz="14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int </a:t>
            </a:r>
            <a:r>
              <a:rPr lang="en-US" sz="1400" dirty="0" err="1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binarySearch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(List&lt;int&gt; array, int target) {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 int low = 0;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 int high = </a:t>
            </a:r>
            <a:r>
              <a:rPr lang="en-US" sz="1400" dirty="0" err="1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array.length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- 1;</a:t>
            </a:r>
          </a:p>
          <a:p>
            <a:endParaRPr lang="en-US" sz="1400" dirty="0">
              <a:solidFill>
                <a:schemeClr val="accent5">
                  <a:lumMod val="50000"/>
                </a:schemeClr>
              </a:solidFill>
              <a:latin typeface="Footlight MT Light" panose="0204060206030A020304" pitchFamily="18" charset="0"/>
            </a:endParaRP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 while (low &lt;= high) {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   int mid = (low + high) ~/ 2;</a:t>
            </a:r>
          </a:p>
          <a:p>
            <a:endParaRPr lang="en-US" sz="1400" dirty="0">
              <a:solidFill>
                <a:schemeClr val="accent5">
                  <a:lumMod val="50000"/>
                </a:schemeClr>
              </a:solidFill>
              <a:latin typeface="Footlight MT Light" panose="0204060206030A020304" pitchFamily="18" charset="0"/>
            </a:endParaRP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   if (array[mid] == target) {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     return mid;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   } else if (array[mid] &lt; target) {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     low = mid + 1;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   } else {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     high = mid - 1;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   }</a:t>
            </a:r>
          </a:p>
          <a:p>
            <a:pPr rtl="1"/>
            <a:r>
              <a:rPr lang="ar-EG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return -1;</a:t>
            </a:r>
          </a:p>
          <a:p>
            <a:pPr rtl="1"/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Footlight MT Light" panose="0204060206030A020304" pitchFamily="18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83B29-493D-809A-F1AC-326D62874BA2}"/>
              </a:ext>
            </a:extLst>
          </p:cNvPr>
          <p:cNvSpPr txBox="1">
            <a:spLocks/>
          </p:cNvSpPr>
          <p:nvPr/>
        </p:nvSpPr>
        <p:spPr>
          <a:xfrm>
            <a:off x="2420472" y="3228"/>
            <a:ext cx="6777318" cy="769441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 algn="ctr"/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Footlight MT Light" panose="0204060206030A020304" pitchFamily="18" charset="0"/>
              </a:rPr>
              <a:t>Binary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Footlight MT Light" panose="0204060206030A020304" pitchFamily="18" charset="0"/>
              </a:rPr>
              <a:t> Search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2E6AB7-F085-A5D2-0888-B75DD062D600}"/>
              </a:ext>
            </a:extLst>
          </p:cNvPr>
          <p:cNvSpPr txBox="1">
            <a:spLocks/>
          </p:cNvSpPr>
          <p:nvPr/>
        </p:nvSpPr>
        <p:spPr>
          <a:xfrm>
            <a:off x="312571" y="142128"/>
            <a:ext cx="10850880" cy="2677656"/>
          </a:xfrm>
          <a:prstGeom prst="rect">
            <a:avLst/>
          </a:prstGeom>
          <a:noFill/>
          <a:scene3d>
            <a:camera prst="perspectiveFront"/>
            <a:lightRig rig="threePt" dir="t"/>
          </a:scene3d>
          <a:sp3d/>
        </p:spPr>
        <p:txBody>
          <a:bodyPr wrap="square" rtlCol="0">
            <a:spAutoFit/>
            <a:flatTx/>
          </a:bodyPr>
          <a:lstStyle/>
          <a:p>
            <a:pPr algn="r"/>
            <a:endParaRPr lang="ar-EG" sz="20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r"/>
            <a:r>
              <a:rPr lang="ar-SA" sz="2000" b="1" dirty="0">
                <a:solidFill>
                  <a:schemeClr val="accent2">
                    <a:lumMod val="50000"/>
                  </a:schemeClr>
                </a:solidFill>
              </a:rPr>
              <a:t>الفكرة</a:t>
            </a:r>
            <a:r>
              <a:rPr lang="ar-EG" sz="2000" b="1" dirty="0">
                <a:solidFill>
                  <a:schemeClr val="accent2">
                    <a:lumMod val="50000"/>
                  </a:schemeClr>
                </a:solidFill>
              </a:rPr>
              <a:t>:</a:t>
            </a:r>
          </a:p>
          <a:p>
            <a:pPr algn="r"/>
            <a:endParaRPr lang="ar-SA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بنمشي على العناصر </a:t>
            </a:r>
            <a:r>
              <a:rPr lang="ar-SA" b="1" dirty="0">
                <a:solidFill>
                  <a:schemeClr val="accent2">
                    <a:lumMod val="75000"/>
                  </a:schemeClr>
                </a:solidFill>
              </a:rPr>
              <a:t>واحد </a:t>
            </a:r>
            <a:r>
              <a:rPr lang="ar-SA" b="1" dirty="0" err="1">
                <a:solidFill>
                  <a:schemeClr val="accent2">
                    <a:lumMod val="75000"/>
                  </a:schemeClr>
                </a:solidFill>
              </a:rPr>
              <a:t>واحد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 لحد ما نلاقي العنصر المطلوب أو </a:t>
            </a:r>
            <a:r>
              <a:rPr lang="ar-SA" dirty="0" err="1">
                <a:solidFill>
                  <a:schemeClr val="accent2">
                    <a:lumMod val="75000"/>
                  </a:schemeClr>
                </a:solidFill>
              </a:rPr>
              <a:t>الليست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 تل</a:t>
            </a:r>
            <a:r>
              <a:rPr lang="ar-EG" dirty="0">
                <a:solidFill>
                  <a:schemeClr val="accent2">
                    <a:lumMod val="75000"/>
                  </a:schemeClr>
                </a:solidFill>
              </a:rPr>
              <a:t>خ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ص.</a:t>
            </a:r>
            <a:endParaRPr lang="ar-EG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ar-EG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ar-EG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r"/>
            <a:r>
              <a:rPr lang="ar-SA" b="1" dirty="0">
                <a:solidFill>
                  <a:schemeClr val="accent2">
                    <a:lumMod val="50000"/>
                  </a:schemeClr>
                </a:solidFill>
              </a:rPr>
              <a:t>الأداء </a:t>
            </a:r>
            <a:r>
              <a:rPr lang="ar-EG" b="1" dirty="0">
                <a:solidFill>
                  <a:schemeClr val="accent2">
                    <a:lumMod val="50000"/>
                  </a:schemeClr>
                </a:solidFill>
              </a:rPr>
              <a:t>):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Time Complexity)</a:t>
            </a:r>
            <a:endParaRPr lang="ar-EG" b="1" dirty="0">
              <a:solidFill>
                <a:schemeClr val="accent2">
                  <a:lumMod val="50000"/>
                </a:schemeClr>
              </a:solidFill>
            </a:endParaRPr>
          </a:p>
          <a:p>
            <a:pPr algn="r"/>
            <a:endParaRPr lang="ar-EG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r" rtl="1"/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DE338AD-C53E-7BEC-3EFE-97164C6E2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559564"/>
              </p:ext>
            </p:extLst>
          </p:nvPr>
        </p:nvGraphicFramePr>
        <p:xfrm>
          <a:off x="3868402" y="2417392"/>
          <a:ext cx="8127999" cy="2016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6230195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297242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97842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SA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الحالة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التعقيد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التفسير</a:t>
                      </a:r>
                      <a:endParaRPr lang="en-US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882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Best Case</a:t>
                      </a:r>
                      <a:r>
                        <a:rPr lang="ar-EG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العنصر موجود </a:t>
                      </a:r>
                      <a:r>
                        <a:rPr lang="ar-EG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في النص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80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Average Case</a:t>
                      </a:r>
                      <a:r>
                        <a:rPr lang="ar-EG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O(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عدد المقارنات </a:t>
                      </a:r>
                      <a:r>
                        <a:rPr lang="ar-SA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بيقل</a:t>
                      </a:r>
                      <a:r>
                        <a:rPr lang="ar-SA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للنص في كل</a:t>
                      </a:r>
                      <a:r>
                        <a:rPr lang="ar-EG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مرة</a:t>
                      </a:r>
                      <a:r>
                        <a:rPr lang="ar-SA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7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Worst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عدد المقارنات </a:t>
                      </a:r>
                      <a:r>
                        <a:rPr lang="ar-SA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بيقل</a:t>
                      </a:r>
                      <a:r>
                        <a:rPr lang="ar-SA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للنص في كل</a:t>
                      </a:r>
                      <a:r>
                        <a:rPr lang="ar-EG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مرة</a:t>
                      </a:r>
                      <a:r>
                        <a:rPr lang="ar-SA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151529"/>
                  </a:ext>
                </a:extLst>
              </a:tr>
            </a:tbl>
          </a:graphicData>
        </a:graphic>
      </p:graphicFrame>
      <p:pic>
        <p:nvPicPr>
          <p:cNvPr id="18" name="Graphic 17" descr="Man in business attire">
            <a:extLst>
              <a:ext uri="{FF2B5EF4-FFF2-40B4-BE49-F238E27FC236}">
                <a16:creationId xmlns:a16="http://schemas.microsoft.com/office/drawing/2014/main" id="{BDDCD130-4A36-AC36-ECA1-5F27249E1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9947" y="4763404"/>
            <a:ext cx="1304925" cy="1762125"/>
          </a:xfrm>
          <a:prstGeom prst="rect">
            <a:avLst/>
          </a:prstGeom>
        </p:spPr>
      </p:pic>
      <p:pic>
        <p:nvPicPr>
          <p:cNvPr id="23" name="Graphic 22" descr="Man in business attire">
            <a:extLst>
              <a:ext uri="{FF2B5EF4-FFF2-40B4-BE49-F238E27FC236}">
                <a16:creationId xmlns:a16="http://schemas.microsoft.com/office/drawing/2014/main" id="{AC7AB282-C12D-B34F-4167-F28220741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2747" y="4785971"/>
            <a:ext cx="1304925" cy="1762125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sp>
        <p:nvSpPr>
          <p:cNvPr id="24" name="Double Wave 23">
            <a:extLst>
              <a:ext uri="{FF2B5EF4-FFF2-40B4-BE49-F238E27FC236}">
                <a16:creationId xmlns:a16="http://schemas.microsoft.com/office/drawing/2014/main" id="{AC5EEB2C-0D08-BA79-8C12-E2C18DD8E5D8}"/>
              </a:ext>
            </a:extLst>
          </p:cNvPr>
          <p:cNvSpPr/>
          <p:nvPr/>
        </p:nvSpPr>
        <p:spPr>
          <a:xfrm>
            <a:off x="8859520" y="5191760"/>
            <a:ext cx="1483360" cy="1087120"/>
          </a:xfrm>
          <a:prstGeom prst="doubleWav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this</a:t>
            </a:r>
          </a:p>
        </p:txBody>
      </p:sp>
    </p:spTree>
    <p:extLst>
      <p:ext uri="{BB962C8B-B14F-4D97-AF65-F5344CB8AC3E}">
        <p14:creationId xmlns:p14="http://schemas.microsoft.com/office/powerpoint/2010/main" val="1442022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5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5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2BD22-1C0C-59F5-7B82-8124F9D30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78233C-D935-143D-53AE-C1FE6DDCC617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chemeClr val="accent2">
                  <a:lumMod val="75000"/>
                </a:schemeClr>
              </a:solidFill>
              <a:latin typeface="Footlight MT Light" panose="0204060206030A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9033E-B001-BD65-D1B0-59699BA9C89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C9DC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>
              <a:solidFill>
                <a:schemeClr val="tx2">
                  <a:lumMod val="75000"/>
                  <a:lumOff val="25000"/>
                </a:schemeClr>
              </a:solidFill>
              <a:latin typeface="Footlight MT Light" panose="0204060206030A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48D324-5AD7-C858-FA37-524D97C927C3}"/>
              </a:ext>
            </a:extLst>
          </p:cNvPr>
          <p:cNvSpPr txBox="1"/>
          <p:nvPr/>
        </p:nvSpPr>
        <p:spPr>
          <a:xfrm>
            <a:off x="1353671" y="3039036"/>
            <a:ext cx="3388659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Linear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rPr>
              <a:t> Search</a:t>
            </a:r>
          </a:p>
          <a:p>
            <a:pPr algn="ctr"/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D1B71D-2A65-D066-F38F-43DA30EEBF22}"/>
              </a:ext>
            </a:extLst>
          </p:cNvPr>
          <p:cNvSpPr txBox="1"/>
          <p:nvPr/>
        </p:nvSpPr>
        <p:spPr>
          <a:xfrm>
            <a:off x="7593105" y="3039036"/>
            <a:ext cx="36755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Footlight MT Light" panose="0204060206030A020304" pitchFamily="18" charset="0"/>
              </a:rPr>
              <a:t>Binary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Footlight MT Light" panose="0204060206030A020304" pitchFamily="18" charset="0"/>
              </a:rPr>
              <a:t> Search</a:t>
            </a:r>
          </a:p>
          <a:p>
            <a:pPr algn="ctr"/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86373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4BD59A-A37D-0040-4F81-3831A5AB60B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chemeClr val="accent2">
                  <a:lumMod val="75000"/>
                </a:schemeClr>
              </a:solidFill>
              <a:latin typeface="Footlight MT Light" panose="0204060206030A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C57B3-CADD-1F76-F789-F6E0905792CD}"/>
              </a:ext>
            </a:extLst>
          </p:cNvPr>
          <p:cNvSpPr txBox="1"/>
          <p:nvPr/>
        </p:nvSpPr>
        <p:spPr>
          <a:xfrm>
            <a:off x="7306235" y="3228"/>
            <a:ext cx="36755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Footlight MT Light" panose="0204060206030A020304" pitchFamily="18" charset="0"/>
              </a:rPr>
              <a:t>Binary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Footlight MT Light" panose="0204060206030A020304" pitchFamily="18" charset="0"/>
              </a:rPr>
              <a:t> Search</a:t>
            </a:r>
          </a:p>
          <a:p>
            <a:pPr algn="ctr"/>
            <a:endParaRPr lang="en-US" sz="4400" dirty="0"/>
          </a:p>
        </p:txBody>
      </p:sp>
      <p:grpSp>
        <p:nvGrpSpPr>
          <p:cNvPr id="13" name="مجموعة 1">
            <a:extLst>
              <a:ext uri="{FF2B5EF4-FFF2-40B4-BE49-F238E27FC236}">
                <a16:creationId xmlns:a16="http://schemas.microsoft.com/office/drawing/2014/main" id="{ADD80CE6-45A7-7E6C-914B-47F3CAA90159}"/>
              </a:ext>
            </a:extLst>
          </p:cNvPr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BEB1988-9F2F-E8CB-A521-B6C8A2C29395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6096000" cy="6858000"/>
            </a:xfrm>
            <a:prstGeom prst="rect">
              <a:avLst/>
            </a:prstGeom>
            <a:solidFill>
              <a:srgbClr val="C9DC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en-US" sz="4800" dirty="0">
                <a:solidFill>
                  <a:schemeClr val="tx2">
                    <a:lumMod val="75000"/>
                    <a:lumOff val="25000"/>
                  </a:schemeClr>
                </a:solidFill>
                <a:latin typeface="Footlight MT Light" panose="0204060206030A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9ECD35-A78F-77C3-7D41-AAF09ECD00FE}"/>
                </a:ext>
              </a:extLst>
            </p:cNvPr>
            <p:cNvSpPr txBox="1">
              <a:spLocks/>
            </p:cNvSpPr>
            <p:nvPr/>
          </p:nvSpPr>
          <p:spPr>
            <a:xfrm>
              <a:off x="1210236" y="3228"/>
              <a:ext cx="3388659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Footlight MT Light" panose="0204060206030A020304" pitchFamily="18" charset="0"/>
                </a:rPr>
                <a:t>Linear</a:t>
              </a:r>
              <a:r>
                <a:rPr lang="en-US" sz="4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Footlight MT Light" panose="0204060206030A020304" pitchFamily="18" charset="0"/>
                </a:rPr>
                <a:t> Search</a:t>
              </a:r>
            </a:p>
            <a:p>
              <a:pPr algn="ctr"/>
              <a:endParaRPr lang="en-US" sz="44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9F2412-2234-F78A-306B-BF9CE74C6780}"/>
                </a:ext>
              </a:extLst>
            </p:cNvPr>
            <p:cNvSpPr txBox="1">
              <a:spLocks/>
            </p:cNvSpPr>
            <p:nvPr/>
          </p:nvSpPr>
          <p:spPr>
            <a:xfrm>
              <a:off x="414528" y="694944"/>
              <a:ext cx="5425440" cy="4862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ar-SA" sz="20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الفكرة</a:t>
              </a:r>
              <a:r>
                <a:rPr lang="ar-EG" sz="20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:</a:t>
              </a:r>
            </a:p>
            <a:p>
              <a:pPr algn="r"/>
              <a:endParaRPr lang="ar-SA" sz="2000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  <a:p>
              <a:pPr algn="ctr"/>
              <a:r>
                <a:rPr lang="ar-SA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بنمشي على العناصر </a:t>
              </a:r>
              <a:r>
                <a:rPr lang="ar-SA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واحد </a:t>
              </a:r>
              <a:r>
                <a:rPr lang="ar-SA" b="1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واحد</a:t>
              </a:r>
              <a:r>
                <a:rPr lang="ar-SA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لحد ما نلاقي العنصر المطلوب أو </a:t>
              </a:r>
              <a:r>
                <a:rPr lang="ar-SA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الليست</a:t>
              </a:r>
              <a:r>
                <a:rPr lang="ar-SA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تخلص.</a:t>
              </a:r>
              <a:endParaRPr lang="ar-EG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ar-EG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ar-EG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  <a:p>
              <a:pPr algn="r"/>
              <a:r>
                <a:rPr lang="ar-SA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الأداء </a:t>
              </a:r>
              <a:r>
                <a:rPr lang="ar-EG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):</a:t>
              </a:r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Time Complexity)</a:t>
              </a:r>
              <a:endParaRPr lang="ar-EG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  <a:p>
              <a:pPr algn="r"/>
              <a:endParaRPr lang="ar-EG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  <a:p>
              <a:pPr algn="r"/>
              <a:endParaRPr lang="ar-EG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  <a:p>
              <a:pPr algn="r" rtl="1" fontAlgn="ctr"/>
              <a:r>
                <a:rPr lang="ar-EG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         </a:t>
              </a:r>
              <a:r>
                <a:rPr lang="ar-SA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الحالة</a:t>
              </a:r>
              <a:r>
                <a:rPr lang="ar-EG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	</a:t>
              </a:r>
              <a:r>
                <a:rPr lang="ar-SA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التعقيد</a:t>
              </a:r>
              <a:r>
                <a:rPr lang="ar-EG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	</a:t>
              </a:r>
              <a:r>
                <a:rPr lang="ar-EG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	</a:t>
              </a:r>
              <a:r>
                <a:rPr lang="ar-SA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التفسير</a:t>
              </a:r>
              <a:endParaRPr lang="en-US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  <a:p>
              <a:pPr algn="r" rtl="1" fontAlgn="ctr"/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Best Case</a:t>
              </a:r>
              <a:r>
                <a:rPr lang="ar-EG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             </a:t>
              </a:r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O(1)</a:t>
              </a:r>
              <a:r>
                <a:rPr lang="ar-EG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           </a:t>
              </a:r>
              <a:r>
                <a:rPr lang="ar-SA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العنصر موجود في أول مكان</a:t>
              </a:r>
              <a:endParaRPr lang="ar-EG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  <a:p>
              <a:pPr algn="r" rtl="1" fontAlgn="ctr"/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Average Case</a:t>
              </a:r>
              <a:r>
                <a:rPr lang="ar-EG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        </a:t>
              </a:r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O(n)</a:t>
              </a:r>
              <a:r>
                <a:rPr lang="ar-EG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               </a:t>
              </a:r>
              <a:r>
                <a:rPr lang="ar-SA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غالبًا في النص</a:t>
              </a:r>
              <a:endParaRPr lang="ar-EG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  <a:p>
              <a:pPr algn="r" rtl="1" fontAlgn="ctr"/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Worst Case</a:t>
              </a:r>
              <a:r>
                <a:rPr lang="ar-EG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           </a:t>
              </a:r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O(n)</a:t>
              </a:r>
              <a:r>
                <a:rPr lang="ar-EG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            </a:t>
              </a:r>
              <a:r>
                <a:rPr lang="ar-SA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العنصر في آخر </a:t>
              </a:r>
              <a:r>
                <a:rPr lang="ar-SA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الليست</a:t>
              </a:r>
              <a:endParaRPr lang="en-US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  <a:p>
              <a:pPr algn="r" fontAlgn="t"/>
              <a:r>
                <a:rPr lang="ar-EG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                                                  </a:t>
              </a:r>
              <a:r>
                <a:rPr lang="ar-SA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أو مش موجود أصلاً</a:t>
              </a:r>
              <a:endParaRPr lang="en-US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  <a:p>
              <a:pPr algn="r"/>
              <a:endParaRPr lang="ar-EG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  <a:p>
              <a:pPr algn="r"/>
              <a:endParaRPr lang="ar-SA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  <a:p>
              <a:pPr algn="r" rtl="1"/>
              <a:endParaRPr lang="en-US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EC99FFF-CA86-4393-160C-DBB4BC8622C8}"/>
              </a:ext>
            </a:extLst>
          </p:cNvPr>
          <p:cNvSpPr txBox="1"/>
          <p:nvPr/>
        </p:nvSpPr>
        <p:spPr>
          <a:xfrm>
            <a:off x="6096000" y="863600"/>
            <a:ext cx="593427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A" sz="2000" b="1" dirty="0">
                <a:solidFill>
                  <a:schemeClr val="accent2">
                    <a:lumMod val="75000"/>
                  </a:schemeClr>
                </a:solidFill>
              </a:rPr>
              <a:t>الفكرة</a:t>
            </a:r>
            <a:r>
              <a:rPr lang="ar-EG" sz="2000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algn="r"/>
            <a:endParaRPr lang="ar-SA" sz="2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بنمشي على العناصر </a:t>
            </a:r>
            <a:r>
              <a:rPr lang="ar-SA" b="1" dirty="0">
                <a:solidFill>
                  <a:schemeClr val="accent2">
                    <a:lumMod val="75000"/>
                  </a:schemeClr>
                </a:solidFill>
              </a:rPr>
              <a:t>واحد </a:t>
            </a:r>
            <a:r>
              <a:rPr lang="ar-SA" b="1" dirty="0" err="1">
                <a:solidFill>
                  <a:schemeClr val="accent2">
                    <a:lumMod val="75000"/>
                  </a:schemeClr>
                </a:solidFill>
              </a:rPr>
              <a:t>واحد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 لحد ما نلاقي العنصر المطلوب أو </a:t>
            </a:r>
            <a:r>
              <a:rPr lang="ar-SA" dirty="0" err="1">
                <a:solidFill>
                  <a:schemeClr val="accent2">
                    <a:lumMod val="75000"/>
                  </a:schemeClr>
                </a:solidFill>
              </a:rPr>
              <a:t>الليست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 ت</a:t>
            </a:r>
            <a:r>
              <a:rPr lang="ar-EG" dirty="0">
                <a:solidFill>
                  <a:schemeClr val="accent2">
                    <a:lumMod val="75000"/>
                  </a:schemeClr>
                </a:solidFill>
              </a:rPr>
              <a:t>خل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ص.</a:t>
            </a:r>
            <a:endParaRPr lang="ar-EG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ar-EG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ar-EG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r"/>
            <a:r>
              <a:rPr lang="ar-SA" b="1" dirty="0">
                <a:solidFill>
                  <a:schemeClr val="accent2">
                    <a:lumMod val="50000"/>
                  </a:schemeClr>
                </a:solidFill>
              </a:rPr>
              <a:t>الأداء </a:t>
            </a:r>
            <a:r>
              <a:rPr lang="ar-EG" b="1" dirty="0">
                <a:solidFill>
                  <a:schemeClr val="accent2">
                    <a:lumMod val="50000"/>
                  </a:schemeClr>
                </a:solidFill>
              </a:rPr>
              <a:t>):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Time Complexity)</a:t>
            </a:r>
            <a:endParaRPr lang="ar-EG" b="1" dirty="0">
              <a:solidFill>
                <a:schemeClr val="accent2">
                  <a:lumMod val="50000"/>
                </a:schemeClr>
              </a:solidFill>
            </a:endParaRPr>
          </a:p>
          <a:p>
            <a:pPr algn="r"/>
            <a:endParaRPr lang="ar-EG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r"/>
            <a:endParaRPr lang="ar-EG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r" rtl="1" fontAlgn="ctr"/>
            <a:r>
              <a:rPr lang="ar-EG" b="1" dirty="0">
                <a:solidFill>
                  <a:schemeClr val="accent2">
                    <a:lumMod val="50000"/>
                  </a:schemeClr>
                </a:solidFill>
              </a:rPr>
              <a:t>         </a:t>
            </a:r>
            <a:r>
              <a:rPr lang="ar-SA" b="1" dirty="0">
                <a:solidFill>
                  <a:schemeClr val="accent2">
                    <a:lumMod val="50000"/>
                  </a:schemeClr>
                </a:solidFill>
              </a:rPr>
              <a:t>الحالة</a:t>
            </a:r>
            <a:r>
              <a:rPr lang="ar-EG" dirty="0">
                <a:solidFill>
                  <a:schemeClr val="accent2">
                    <a:lumMod val="50000"/>
                  </a:schemeClr>
                </a:solidFill>
              </a:rPr>
              <a:t>	</a:t>
            </a:r>
            <a:r>
              <a:rPr lang="ar-SA" b="1" dirty="0">
                <a:solidFill>
                  <a:schemeClr val="accent2">
                    <a:lumMod val="50000"/>
                  </a:schemeClr>
                </a:solidFill>
              </a:rPr>
              <a:t>التعقيد</a:t>
            </a:r>
            <a:r>
              <a:rPr lang="ar-EG" b="1" dirty="0">
                <a:solidFill>
                  <a:schemeClr val="accent2">
                    <a:lumMod val="50000"/>
                  </a:schemeClr>
                </a:solidFill>
              </a:rPr>
              <a:t>	</a:t>
            </a:r>
            <a:r>
              <a:rPr lang="ar-EG" dirty="0">
                <a:solidFill>
                  <a:schemeClr val="accent2">
                    <a:lumMod val="50000"/>
                  </a:schemeClr>
                </a:solidFill>
              </a:rPr>
              <a:t>	</a:t>
            </a:r>
            <a:r>
              <a:rPr lang="ar-SA" b="1" dirty="0">
                <a:solidFill>
                  <a:schemeClr val="accent2">
                    <a:lumMod val="50000"/>
                  </a:schemeClr>
                </a:solidFill>
              </a:rPr>
              <a:t>التفسير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r" rtl="1" font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Best Case</a:t>
            </a:r>
            <a:r>
              <a:rPr lang="ar-EG" dirty="0">
                <a:solidFill>
                  <a:schemeClr val="accent2">
                    <a:lumMod val="75000"/>
                  </a:schemeClr>
                </a:solidFill>
              </a:rPr>
              <a:t>     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O(1)</a:t>
            </a:r>
            <a:r>
              <a:rPr lang="ar-E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            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العنصر في المنتصف</a:t>
            </a:r>
            <a:endParaRPr lang="ar-EG" dirty="0">
              <a:solidFill>
                <a:schemeClr val="accent2">
                  <a:lumMod val="75000"/>
                </a:schemeClr>
              </a:solidFill>
            </a:endParaRPr>
          </a:p>
          <a:p>
            <a:pPr algn="r" rtl="1" font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Average Case</a:t>
            </a:r>
            <a:r>
              <a:rPr lang="ar-EG" dirty="0">
                <a:solidFill>
                  <a:schemeClr val="accent2">
                    <a:lumMod val="75000"/>
                  </a:schemeClr>
                </a:solidFill>
              </a:rPr>
              <a:t>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O(log n)</a:t>
            </a:r>
            <a:r>
              <a:rPr lang="ar-E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عدد المقارنات </a:t>
            </a:r>
            <a:r>
              <a:rPr lang="ar-SA" dirty="0" err="1">
                <a:solidFill>
                  <a:schemeClr val="accent2">
                    <a:lumMod val="75000"/>
                  </a:schemeClr>
                </a:solidFill>
              </a:rPr>
              <a:t>بيقل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 للنص في كل</a:t>
            </a:r>
            <a:r>
              <a:rPr lang="ar-EG" dirty="0">
                <a:solidFill>
                  <a:schemeClr val="accent2">
                    <a:lumMod val="75000"/>
                  </a:schemeClr>
                </a:solidFill>
              </a:rPr>
              <a:t> مرة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Worst Case</a:t>
            </a:r>
            <a:r>
              <a:rPr lang="ar-EG" dirty="0">
                <a:solidFill>
                  <a:schemeClr val="accent2">
                    <a:lumMod val="75000"/>
                  </a:schemeClr>
                </a:solidFill>
              </a:rPr>
              <a:t>   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O(log n)</a:t>
            </a:r>
            <a:r>
              <a:rPr lang="ar-E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عدد المقارنات </a:t>
            </a:r>
            <a:r>
              <a:rPr lang="ar-SA" dirty="0" err="1">
                <a:solidFill>
                  <a:schemeClr val="accent2">
                    <a:lumMod val="75000"/>
                  </a:schemeClr>
                </a:solidFill>
              </a:rPr>
              <a:t>بيقل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 للنص في كل</a:t>
            </a:r>
            <a:r>
              <a:rPr lang="ar-EG" dirty="0">
                <a:solidFill>
                  <a:schemeClr val="accent2">
                    <a:lumMod val="75000"/>
                  </a:schemeClr>
                </a:solidFill>
              </a:rPr>
              <a:t> مرة</a:t>
            </a:r>
            <a:r>
              <a:rPr lang="ar-SA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299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2DDE4B-977E-3177-E74D-DFFAB35B8E0C}"/>
              </a:ext>
            </a:extLst>
          </p:cNvPr>
          <p:cNvSpPr/>
          <p:nvPr/>
        </p:nvSpPr>
        <p:spPr>
          <a:xfrm>
            <a:off x="20320" y="-142240"/>
            <a:ext cx="1217168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E06B8C-FEE9-1EF9-7DEB-E3C7E27517C1}"/>
              </a:ext>
            </a:extLst>
          </p:cNvPr>
          <p:cNvSpPr txBox="1"/>
          <p:nvPr/>
        </p:nvSpPr>
        <p:spPr>
          <a:xfrm>
            <a:off x="3698240" y="2501930"/>
            <a:ext cx="5069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313741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</TotalTime>
  <Words>437</Words>
  <Application>Microsoft Office PowerPoint</Application>
  <PresentationFormat>Widescreen</PresentationFormat>
  <Paragraphs>125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Rounded MT Bold</vt:lpstr>
      <vt:lpstr>Footlight MT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ayman</dc:creator>
  <cp:lastModifiedBy>mohamed ayman</cp:lastModifiedBy>
  <cp:revision>2</cp:revision>
  <dcterms:created xsi:type="dcterms:W3CDTF">2026-01-05T15:09:41Z</dcterms:created>
  <dcterms:modified xsi:type="dcterms:W3CDTF">2026-01-06T19:13:35Z</dcterms:modified>
</cp:coreProperties>
</file>